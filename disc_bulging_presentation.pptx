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0D0D0D"/>
                </a:solidFill>
                <a:latin typeface="맑은 고딕"/>
              </a:rPr>
              <a:t>요추 MRI 영상에서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0D0D0D"/>
                </a:solidFill>
                <a:latin typeface="맑은 고딕"/>
              </a:rPr>
              <a:t>추간판 팽윤 자동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  <a:latin typeface="맑은 고딕"/>
              </a:rPr>
              <a:t>Disc Bulging Classification from Lumbar Spine MRI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0D0D"/>
                </a:solidFill>
                <a:latin typeface="맑은 고딕"/>
              </a:rPr>
              <a:t>인하대학교 기계학습 텀 프로젝트  |  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64008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D0D0D"/>
                </a:solidFill>
                <a:latin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페이지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0D0D"/>
                </a:solidFill>
                <a:latin typeface="맑은 고딕"/>
              </a:rPr>
              <a:t>01.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0D0D"/>
                </a:solidFill>
                <a:latin typeface="맑은 고딕"/>
              </a:rPr>
              <a:t>배경 &amp; 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0D0D"/>
                </a:solidFill>
                <a:latin typeface="맑은 고딕"/>
              </a:rPr>
              <a:t>02.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0D0D"/>
                </a:solidFill>
                <a:latin typeface="맑은 고딕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645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0D0D"/>
                </a:solidFill>
                <a:latin typeface="맑은 고딕"/>
              </a:rPr>
              <a:t>03.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0D0D"/>
                </a:solidFill>
                <a:latin typeface="맑은 고딕"/>
              </a:rPr>
              <a:t>첫 번째 시도와 실패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0D0D"/>
                </a:solidFill>
                <a:latin typeface="맑은 고딕"/>
              </a:rPr>
              <a:t>04.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0D0D"/>
                </a:solidFill>
                <a:latin typeface="맑은 고딕"/>
              </a:rPr>
              <a:t>모델 &amp; 실험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7490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0D0D"/>
                </a:solidFill>
                <a:latin typeface="맑은 고딕"/>
              </a:rPr>
              <a:t>05.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297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0D0D"/>
                </a:solidFill>
                <a:latin typeface="맑은 고딕"/>
              </a:rPr>
              <a:t>성능 개선 실험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7490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0D0D"/>
                </a:solidFill>
                <a:latin typeface="맑은 고딕"/>
              </a:rPr>
              <a:t>06.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297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0D0D"/>
                </a:solidFill>
                <a:latin typeface="맑은 고딕"/>
              </a:rPr>
              <a:t>결론 &amp; 배운 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64008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D0D0D"/>
                </a:solidFill>
                <a:latin typeface="맑은 고딕"/>
              </a:rPr>
              <a:t>배경 &amp; 문제 정의 </a:t>
            </a:r>
            <a:r>
              <a:rPr sz="2000" b="0">
                <a:solidFill>
                  <a:srgbClr val="888888"/>
                </a:solidFill>
                <a:latin typeface="맑은 고딕"/>
              </a:rPr>
              <a:t>(Background)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페이지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맑은 고딕"/>
              </a:rPr>
              <a:t>허리 통증의 주요 원인, 추간판(IVD)이란?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0D0D"/>
                </a:solidFill>
                <a:latin typeface="맑은 고딕"/>
              </a:rPr>
              <a:t>척추뼈 사이에 있는 쿠션 역할의 연골. 오랜 압박으로 옆으로 밀려나오면 주변 신경을 자극해 요통을 유발한다. 이를 '추간판 팽윤(Disc Bulging)'이라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맑은 고딕"/>
              </a:rPr>
              <a:t>왜 AI가 필요한가?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0D0D"/>
                </a:solidFill>
                <a:latin typeface="맑은 고딕"/>
              </a:rPr>
              <a:t>MRI 판독은 숙련된 방사선과 의사가 수십 장의 영상을 직접 확인해야 하는 시간집약적 작업이다. AI가 보조 판독 도구로 활용될 수 있다면 진단 효율을 크게 높일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맑은 고딕"/>
              </a:rPr>
              <a:t>이 프로젝트의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0D0D"/>
                </a:solidFill>
                <a:latin typeface="맑은 고딕"/>
              </a:rPr>
              <a:t>T2 MRI 시상면 영상 → 추간판 팽윤 여부를 0/1로 자동 분류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828800"/>
            <a:ext cx="2560320" cy="822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0D0D"/>
                </a:solidFill>
                <a:latin typeface="맑은 고딕"/>
              </a:rPr>
              <a:t>척추뼈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880360"/>
            <a:ext cx="2560320" cy="822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0D0D"/>
                </a:solidFill>
                <a:latin typeface="맑은 고딕"/>
              </a:rPr>
              <a:t>척추뼈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931920"/>
            <a:ext cx="2560320" cy="822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0D0D"/>
                </a:solidFill>
                <a:latin typeface="맑은 고딕"/>
              </a:rPr>
              <a:t>척추뼈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651760"/>
            <a:ext cx="2560320" cy="22860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35640" y="2606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0D0D"/>
                </a:solidFill>
                <a:latin typeface="맑은 고딕"/>
              </a:rPr>
              <a:t>추간판 (정상)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703320"/>
            <a:ext cx="2560320" cy="2286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3564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0D0D"/>
                </a:solidFill>
                <a:latin typeface="맑은 고딕"/>
              </a:rPr>
              <a:t>추간판 (팽윤 ▶)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64008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D0D0D"/>
                </a:solidFill>
                <a:latin typeface="맑은 고딕"/>
              </a:rPr>
              <a:t>데이터셋 </a:t>
            </a:r>
            <a:r>
              <a:rPr sz="2000" b="0">
                <a:solidFill>
                  <a:srgbClr val="888888"/>
                </a:solidFill>
                <a:latin typeface="맑은 고딕"/>
              </a:rPr>
              <a:t>(SPIDER Dataset)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페이지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200400" cy="201168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맑은 고딕"/>
              </a:rPr>
              <a:t>👥 환자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맑은 고딕"/>
              </a:rPr>
              <a:t>209명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4개 병원, T2 MRI 보유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645920"/>
            <a:ext cx="3200400" cy="201168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맑은 고딕"/>
              </a:rPr>
              <a:t>🦴 추간판 샘플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402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맑은 고딕"/>
              </a:rPr>
              <a:t>1,254개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환자당 IVD 1~6번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645920"/>
            <a:ext cx="3200400" cy="201168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828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맑은 고딕"/>
              </a:rPr>
              <a:t>📊 팽윤 양성 비율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402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맑은 고딕"/>
              </a:rPr>
              <a:t>~49%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926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거의 균형 잡힌 클래스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맑은 고딕"/>
              </a:rPr>
              <a:t>입력 데이터 처리 파이프라인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828800" cy="10058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0D0D"/>
                </a:solidFill>
                <a:latin typeface="맑은 고딕"/>
              </a:rPr>
              <a:t>MRI 3D 볼륨
(.mha 파일)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754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맑은 고딕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4434840"/>
            <a:ext cx="1828800" cy="10058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0D0D"/>
                </a:solidFill>
                <a:latin typeface="맑은 고딕"/>
              </a:rPr>
              <a:t>중앙 시상면
슬라이스 추출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754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맑은 고딕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434840"/>
            <a:ext cx="1828800" cy="10058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0D0D"/>
                </a:solidFill>
                <a:latin typeface="맑은 고딕"/>
              </a:rPr>
              <a:t>디스크 위치
마스크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맑은 고딕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4434840"/>
            <a:ext cx="1828800" cy="10058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0D0D"/>
                </a:solidFill>
                <a:latin typeface="맑은 고딕"/>
              </a:rPr>
              <a:t>128×128
크롭/리사이즈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754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맑은 고딕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4434840"/>
            <a:ext cx="1828800" cy="10058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5720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CNN 입력
(0/1 레이블)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64008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D0D0D"/>
                </a:solidFill>
                <a:latin typeface="맑은 고딕"/>
              </a:rPr>
              <a:t>첫 번째 시도와 실패 </a:t>
            </a:r>
            <a:r>
              <a:rPr sz="2000" b="0">
                <a:solidFill>
                  <a:srgbClr val="888888"/>
                </a:solidFill>
                <a:latin typeface="맑은 고딕"/>
              </a:rPr>
              <a:t>(Herniation 분류)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페이지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0D0D"/>
                </a:solidFill>
                <a:latin typeface="맑은 고딕"/>
              </a:rPr>
              <a:t>처음엔 더 심각한 질환인 '추간판 탈출증(Herniation)' 예측을 시도했다.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029200" cy="164592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D0D"/>
                </a:solidFill>
                <a:latin typeface="맑은 고딕"/>
              </a:rPr>
              <a:t>❌  문제: 극단적 클래스 불균형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0D0D"/>
                </a:solidFill>
                <a:latin typeface="맑은 고딕"/>
              </a:rPr>
              <a:t>전체 추간판 중 Herniation 양성은 단 5.7%.
AI가 모든 샘플을 '정상'이라 예측해도
정확도 94%가 나오는 상황.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148840"/>
            <a:ext cx="5029200" cy="164592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D0D"/>
                </a:solidFill>
                <a:latin typeface="맑은 고딕"/>
              </a:rPr>
              <a:t>📊  모든 방법 동일한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97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0D0D"/>
                </a:solidFill>
                <a:latin typeface="맑은 고딕"/>
              </a:rPr>
              <a:t>Accuracy ≈ 95%  /  F1-Score = 0.000
→ AI가 '전부 정상'이라고만 답한 것.
정확도는 높지만 실질적 학습 실패.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맑은 고딕"/>
              </a:rPr>
              <a:t>▼  전략 전환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26280"/>
            <a:ext cx="10515600" cy="13716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타겟 변경 :  Herniation (5.7%) → Disc Bulging (49%)
양성 비율이 ~50%에 가까우면 AI가 클래스 간 차이를 제대로 학습할 수 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64008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D0D0D"/>
                </a:solidFill>
                <a:latin typeface="맑은 고딕"/>
              </a:rPr>
              <a:t>모델 &amp; 평가 방법 </a:t>
            </a:r>
            <a:r>
              <a:rPr sz="2000" b="0">
                <a:solidFill>
                  <a:srgbClr val="888888"/>
                </a:solidFill>
                <a:latin typeface="맑은 고딕"/>
              </a:rPr>
              <a:t>(Model &amp;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페이지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맑은 고딕"/>
              </a:rPr>
              <a:t>경량 CNN (약 19,000개 파라미터)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0D0D"/>
                </a:solidFill>
                <a:latin typeface="맑은 고딕"/>
              </a:rPr>
              <a:t>이미지에서 패턴을 찾는 '합성곱 신경망'. 핵심은 위치에 상관없이
패턴을 감지하는 전역 평균 풀링(GAP) 구조.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46304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0D0D"/>
                </a:solidFill>
                <a:latin typeface="맑은 고딕"/>
              </a:rPr>
              <a:t>입력
128×128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15468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맑은 고딕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93392" y="2743200"/>
            <a:ext cx="1463040" cy="11887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3392" y="283464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0D0D"/>
                </a:solidFill>
                <a:latin typeface="맑은 고딕"/>
              </a:rPr>
              <a:t>Conv
+ReLU+Pool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315468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맑은 고딕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9584" y="2743200"/>
            <a:ext cx="1463040" cy="1188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83464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Conv
+ReLU+Pool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315468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맑은 고딕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5776" y="2743200"/>
            <a:ext cx="1463040" cy="1188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283464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GAP
전역 평균
풀링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15468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맑은 고딕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1968" y="2743200"/>
            <a:ext cx="1463040" cy="11887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83464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Dropout
+FC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15468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맑은 고딕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743200"/>
            <a:ext cx="1463040" cy="1188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834640"/>
            <a:ext cx="1463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0 or 1
팽윤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0D0D"/>
                </a:solidFill>
                <a:latin typeface="맑은 고딕"/>
              </a:rPr>
              <a:t>왜 교차검증(CV)을 쓰나?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965960"/>
            <a:ext cx="5029200" cy="123444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075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맑은 고딕"/>
              </a:rPr>
              <a:t>❌  단일 분할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44144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0D0D"/>
                </a:solidFill>
                <a:latin typeface="맑은 고딕"/>
              </a:rPr>
              <a:t>Val F1=0.808 → Test F1=0.698
갭 0.11 → 평가 신뢰도 낮음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83280"/>
            <a:ext cx="5029200" cy="123444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493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맑은 고딕"/>
              </a:rPr>
              <a:t>✅  3-Fold CV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5876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0D0D"/>
                </a:solidFill>
                <a:latin typeface="맑은 고딕"/>
              </a:rPr>
              <a:t>데이터를 3등분 → 순서대로 Val 사용
모든 환자가 한 번씩 검증에 참여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맑은 고딕"/>
              </a:rPr>
              <a:t>환자 단위 층화(Stratified) 분할로 양성 비율 균등 유지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64008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D0D0D"/>
                </a:solidFill>
                <a:latin typeface="맑은 고딕"/>
              </a:rPr>
              <a:t>성능 개선 실험 </a:t>
            </a:r>
            <a:r>
              <a:rPr sz="2000" b="0">
                <a:solidFill>
                  <a:srgbClr val="888888"/>
                </a:solidFill>
                <a:latin typeface="맑은 고딕"/>
              </a:rPr>
              <a:t>(Performance Improvement)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페이지 7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2743200"/>
            <a:ext cx="8686800" cy="45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1005840" cy="1005840"/>
          </a:xfrm>
          <a:prstGeom prst="rect">
            <a:avLst/>
          </a:prstGeom>
          <a:solidFill>
            <a:srgbClr val="CCCCCC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0D0D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0D"/>
                </a:solidFill>
                <a:latin typeface="맑은 고딕"/>
              </a:rPr>
              <a:t>베이스라인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bbox 크롭 → Resize
3-Fold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맑은 고딕"/>
              </a:rPr>
              <a:t>F1 = 0.761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286000"/>
            <a:ext cx="1005840" cy="1005840"/>
          </a:xfrm>
          <a:prstGeom prst="rect">
            <a:avLst/>
          </a:prstGeom>
          <a:solidFill>
            <a:srgbClr val="CCCCCC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0D0D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0D"/>
                </a:solidFill>
                <a:latin typeface="맑은 고딕"/>
              </a:rPr>
              <a:t>물리적 스케일
맞추기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069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등방 리샘플 0.75mm/px
환자마다 다른 픽셀 크기 통일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892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맑은 고딕"/>
              </a:rPr>
              <a:t>F1 = 0.753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1005840" cy="1005840"/>
          </a:xfrm>
          <a:prstGeom prst="rect">
            <a:avLst/>
          </a:prstGeom>
          <a:solidFill>
            <a:srgbClr val="CCCCCC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0D0D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0D"/>
                </a:solidFill>
                <a:latin typeface="맑은 고딕"/>
              </a:rPr>
              <a:t>신호 균일화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069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N4 편향 보정
MRI 코일 신호 불균일 제거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892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맑은 고딕"/>
              </a:rPr>
              <a:t>F1 = 0.762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2286000"/>
            <a:ext cx="1005840" cy="1005840"/>
          </a:xfrm>
          <a:prstGeom prst="rect">
            <a:avLst/>
          </a:prstGeom>
          <a:solidFill>
            <a:srgbClr val="CCCCCC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22860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0D0D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0D"/>
                </a:solidFill>
                <a:latin typeface="맑은 고딕"/>
              </a:rPr>
              <a:t>3방향 입력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069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맑은 고딕"/>
              </a:rPr>
              <a:t>좌·중·우 3장 슬라이스
3채널 CNN 입력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892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맑은 고딕"/>
              </a:rPr>
              <a:t>F1 = 0.767 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64008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D0D0D"/>
                </a:solidFill>
                <a:latin typeface="맑은 고딕"/>
              </a:rPr>
              <a:t>최종 실험 결과 </a:t>
            </a:r>
            <a:r>
              <a:rPr sz="2000" b="0">
                <a:solidFill>
                  <a:srgbClr val="888888"/>
                </a:solidFill>
                <a:latin typeface="맑은 고딕"/>
              </a:rPr>
              <a:t>(Results)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페이지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0D0D"/>
                </a:solidFill>
                <a:latin typeface="맑은 고딕"/>
              </a:rPr>
              <a:t>베이스라인 (Sec 13)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00200"/>
            <a:ext cx="3651884" cy="4754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9404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0D0D"/>
                </a:solidFill>
                <a:latin typeface="맑은 고딕"/>
              </a:rPr>
              <a:t>0.7613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2364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맑은 고딕"/>
              </a:rPr>
              <a:t>bbox 크롭 + Resize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0D0D"/>
                </a:solidFill>
                <a:latin typeface="맑은 고딕"/>
              </a:rPr>
              <a:t>등방 리샘플 (Sec 14)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313432"/>
            <a:ext cx="2245994" cy="4754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3514" y="2359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0D0D"/>
                </a:solidFill>
                <a:latin typeface="맑은 고딕"/>
              </a:rPr>
              <a:t>0.7531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6474" y="2359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맑은 고딕"/>
              </a:rPr>
              <a:t>0.75mm/px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0D0D"/>
                </a:solidFill>
                <a:latin typeface="맑은 고딕"/>
              </a:rPr>
              <a:t>N4 보정 (Sec 17)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026664"/>
            <a:ext cx="3771900" cy="4754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9420" y="30723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0D0D"/>
                </a:solidFill>
                <a:latin typeface="맑은 고딕"/>
              </a:rPr>
              <a:t>0.7620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2380" y="30723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맑은 고딕"/>
              </a:rPr>
              <a:t>MRI 신호 균일화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856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0D0D"/>
                </a:solidFill>
                <a:latin typeface="맑은 고딕"/>
              </a:rPr>
              <a:t>3채널 입력 (Sec 16)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739896"/>
            <a:ext cx="4543424" cy="4754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944" y="37856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0D"/>
                </a:solidFill>
                <a:latin typeface="맑은 고딕"/>
              </a:rPr>
              <a:t>0.7665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3904" y="378561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맑은 고딕"/>
              </a:rPr>
              <a:t>3방향 슬라이스 ★ 최고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0789920" cy="100584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73168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3방향 슬라이스를 함께 보는 것이 가장 효과적.
중앙 시상면 1장만으로는 좌우 비대칭 팽윤을 놓칠 수 있다는 도메인 지식이 성능 개선으로 이어졌다.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64008" cy="64008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D0D0D"/>
                </a:solidFill>
                <a:latin typeface="맑은 고딕"/>
              </a:rPr>
              <a:t>결론 &amp; 배운 점 </a:t>
            </a:r>
            <a:r>
              <a:rPr sz="2000" b="0">
                <a:solidFill>
                  <a:srgbClr val="888888"/>
                </a:solidFill>
                <a:latin typeface="맑은 고딕"/>
              </a:rPr>
              <a:t>(Conclusion)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  <a:latin typeface="맑은 고딕"/>
              </a:rPr>
              <a:t>페이지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solidFill>
            <a:srgbClr val="CCCCCC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0D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63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D0D"/>
                </a:solidFill>
                <a:latin typeface="맑은 고딕"/>
              </a:rPr>
              <a:t>평가 방법이 곧 신뢰도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92808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0D0D"/>
                </a:solidFill>
                <a:latin typeface="맑은 고딕"/>
              </a:rPr>
              <a:t>단일 hold-out의 Val F1=0.808은 과대평가였다.
31명의 작은 Val set이 우연히 유리한 구성이었을 뿐.
→ 교차검증으로 실제 일반화 성능(0.761)을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solidFill>
            <a:srgbClr val="CCCCCC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0D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063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D0D"/>
                </a:solidFill>
                <a:latin typeface="맑은 고딕"/>
              </a:rPr>
              <a:t>도메인 지식 → 전처리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93008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0D0D"/>
                </a:solidFill>
                <a:latin typeface="맑은 고딕"/>
              </a:rPr>
              <a:t>MRI는 환자마다 픽셀 크기가 다르고 코일 신호 불균일이 존재.
이 특성을 반영한 등방 리샘플 + N4 보정이 성능 향상에 기여.
→ '그냥 넣으면 되겠지'는 통하지 않는다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594360" cy="594360"/>
          </a:xfrm>
          <a:prstGeom prst="rect">
            <a:avLst/>
          </a:prstGeom>
          <a:solidFill>
            <a:srgbClr val="CCCCCC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0D0D"/>
                </a:solidFill>
                <a:latin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663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D0D"/>
                </a:solidFill>
                <a:latin typeface="맑은 고딕"/>
              </a:rPr>
              <a:t>클래스 불균형은 모델의 문제가 아니다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093208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0D0D"/>
                </a:solidFill>
                <a:latin typeface="맑은 고딕"/>
              </a:rPr>
              <a:t>Herniation 5.7% → 어떤 모델도 학습 실패.
타겟 자체를 바꾸는 결정이 필요했다.
→ 데이터 문제는 데이터로 해결해야 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0D0D"/>
                </a:solidFill>
                <a:latin typeface="맑은 고딕"/>
              </a:rPr>
              <a:t>Thank You for Listening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8888"/>
                </a:solidFill>
                <a:latin typeface="맑은 고딕"/>
              </a:rPr>
              <a:t>발표를 마칩니다.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